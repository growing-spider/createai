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200400" cy="320040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274320"/>
            <a:ext cx="1828800" cy="182880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548640"/>
            <a:ext cx="1188720" cy="1188720"/>
          </a:xfrm>
          <a:prstGeom prst="ellipse">
            <a:avLst/>
          </a:prstGeom>
          <a:solidFill>
            <a:srgbClr val="219EBC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822960"/>
            <a:ext cx="640080" cy="64008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45720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FundusAI-Edu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2286000" y="182880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眼底图像AI教学与科研辅助平台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286000" y="2651760"/>
            <a:ext cx="228600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2926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ECA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让医学AI触手可及 — 从图像分析到科研全流程智能化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ECA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2026年6月  |  项目开发案例展示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02304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案例概述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应用场景与核心问题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931920" cy="2926080"/>
          </a:xfrm>
          <a:prstGeom prst="rect">
            <a:avLst>
              <a:gd name="adj" fmla="val 3125"/>
            </a:avLst>
          </a:prstGeom>
          <a:solidFill>
            <a:srgbClr val="F0F8F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373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医学教学   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11680" y="2240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课堂上演示血管分割与拓扑分析，抽象概念可视化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科研起步   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1168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学生快速生成选题、实验方案，降低科研门槛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429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论文写作   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11680" y="3429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辅助构建框架、润色章节、推荐参考文献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自主学习   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11680" y="4023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知识库问答 + 学习行为画像，个性化学习路径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645920"/>
            <a:ext cx="3931920" cy="2926080"/>
          </a:xfrm>
          <a:prstGeom prst="rect">
            <a:avLst>
              <a:gd name="adj" fmla="val 3125"/>
            </a:avLst>
          </a:prstGeom>
          <a:solidFill>
            <a:srgbClr val="023047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7373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解决的核心问题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0" y="2286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394960" y="22860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眼底图像分析工具门槛高，学生难以独立完成实验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2926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394960" y="2926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科研选题缺乏指导，本科生不知道如何切入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3566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94960" y="35661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血管拓扑特征计算复杂，手工提取耗时且易错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4206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94960" y="4206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论文写作流程不清晰，效率低下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19EBC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219EB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实现功能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182880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ECA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六大功能模块 · 从图像分析到科研全流程覆盖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眼底图像智能分析 — 血管分割与病变识别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2468880"/>
          </a:xfrm>
          <a:prstGeom prst="roundRect">
            <a:avLst/>
          </a:prstGeom>
          <a:solidFill>
            <a:srgbClr val="F8FCFE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54864"/>
          </a:xfrm>
          <a:prstGeom prst="rect">
            <a:avLst/>
          </a:prstGeom>
          <a:solidFill>
            <a:srgbClr val="219EB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上传图像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JPG/PNG/BMP/TIFF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 7 种常见格式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自动校验图片完整性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实时预览 + 元数据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2468880"/>
          </a:xfrm>
          <a:prstGeom prst="roundRect">
            <a:avLst/>
          </a:prstGeom>
          <a:solidFill>
            <a:srgbClr val="F8FCFE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188720"/>
            <a:ext cx="2651760" cy="54864"/>
          </a:xfrm>
          <a:prstGeom prst="rect">
            <a:avLst/>
          </a:prstGeom>
          <a:solidFill>
            <a:srgbClr val="023047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325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AI 分析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9000" y="182880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多尺度黑帽变换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Frangi 血管增强滤波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Otsu 自适应阈值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Morphology 后处理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51760" cy="2468880"/>
          </a:xfrm>
          <a:prstGeom prst="roundRect">
            <a:avLst/>
          </a:prstGeom>
          <a:solidFill>
            <a:srgbClr val="F8FCFE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188720"/>
            <a:ext cx="2651760" cy="5486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325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结果呈现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182880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血管分割掩码（绿标）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血管叠加图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 四级分级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六维拓扑特征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EF3E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862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演示模式：无需 GPU 或预训练权重，Frangi 滤波器自动切换，平台完全可用。加载 U-Net 权重后精度更高。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19EBC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血管拓扑分析 &amp; AI 智能问答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365760"/>
          </a:xfrm>
          <a:prstGeom prst="rect">
            <a:avLst/>
          </a:prstGeom>
          <a:solidFill>
            <a:srgbClr val="02304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血管拓扑特征分析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280160" cy="1097280"/>
          </a:xfrm>
          <a:prstGeom prst="roundRect">
            <a:avLst>
              <a:gd name="adj" fmla="val 6667"/>
            </a:avLst>
          </a:prstGeom>
          <a:solidFill>
            <a:srgbClr val="F0F8F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002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血管密度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密度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反映视网膜血管覆盖率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47088" y="1554480"/>
            <a:ext cx="1280160" cy="1097280"/>
          </a:xfrm>
          <a:prstGeom prst="roundRect">
            <a:avLst>
              <a:gd name="adj" fmla="val 6667"/>
            </a:avLst>
          </a:prstGeom>
          <a:solidFill>
            <a:srgbClr val="F0F8FC"/>
          </a:solidFill>
          <a:ln/>
        </p:spPr>
      </p:sp>
      <p:sp>
        <p:nvSpPr>
          <p:cNvPr id="11" name="Text 9"/>
          <p:cNvSpPr/>
          <p:nvPr/>
        </p:nvSpPr>
        <p:spPr>
          <a:xfrm>
            <a:off x="1892808" y="16002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分叉点数量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92808" y="1965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92808" y="22402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血管网络复杂度指标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91256" y="1554480"/>
            <a:ext cx="1280160" cy="1097280"/>
          </a:xfrm>
          <a:prstGeom prst="roundRect">
            <a:avLst>
              <a:gd name="adj" fmla="val 6667"/>
            </a:avLst>
          </a:prstGeom>
          <a:solidFill>
            <a:srgbClr val="F0F8FC"/>
          </a:solidFill>
          <a:ln/>
        </p:spPr>
      </p:sp>
      <p:sp>
        <p:nvSpPr>
          <p:cNvPr id="15" name="Text 13"/>
          <p:cNvSpPr/>
          <p:nvPr/>
        </p:nvSpPr>
        <p:spPr>
          <a:xfrm>
            <a:off x="3236976" y="16002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终末点数量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36976" y="1965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36976" y="22402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血管末梢生长状况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2834640"/>
            <a:ext cx="1280160" cy="1097280"/>
          </a:xfrm>
          <a:prstGeom prst="roundRect">
            <a:avLst>
              <a:gd name="adj" fmla="val 6667"/>
            </a:avLst>
          </a:prstGeom>
          <a:solidFill>
            <a:srgbClr val="F0F8FC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880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平均血管宽度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2461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像素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3520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CAD 辅助诊断依据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847088" y="2834640"/>
            <a:ext cx="1280160" cy="1097280"/>
          </a:xfrm>
          <a:prstGeom prst="roundRect">
            <a:avLst>
              <a:gd name="adj" fmla="val 6667"/>
            </a:avLst>
          </a:prstGeom>
          <a:solidFill>
            <a:srgbClr val="F0F8FC"/>
          </a:solidFill>
          <a:ln/>
        </p:spPr>
      </p:sp>
      <p:sp>
        <p:nvSpPr>
          <p:cNvPr id="23" name="Text 21"/>
          <p:cNvSpPr/>
          <p:nvPr/>
        </p:nvSpPr>
        <p:spPr>
          <a:xfrm>
            <a:off x="1892808" y="2880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血管迂曲度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892808" y="32461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比值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892808" y="3520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弯曲度异常提示病变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91256" y="2834640"/>
            <a:ext cx="1280160" cy="1097280"/>
          </a:xfrm>
          <a:prstGeom prst="roundRect">
            <a:avLst>
              <a:gd name="adj" fmla="val 6667"/>
            </a:avLst>
          </a:prstGeom>
          <a:solidFill>
            <a:srgbClr val="F0F8FC"/>
          </a:solidFill>
          <a:ln/>
        </p:spPr>
      </p:sp>
      <p:sp>
        <p:nvSpPr>
          <p:cNvPr id="27" name="Text 25"/>
          <p:cNvSpPr/>
          <p:nvPr/>
        </p:nvSpPr>
        <p:spPr>
          <a:xfrm>
            <a:off x="3236976" y="2880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分形维数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36976" y="32461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236976" y="3520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血管空间填充效率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1051560"/>
            <a:ext cx="3840480" cy="365760"/>
          </a:xfrm>
          <a:prstGeom prst="rect">
            <a:avLst/>
          </a:prstGeom>
          <a:solidFill>
            <a:srgbClr val="023047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1051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科研导师 (RAG 问答)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846320" y="1554480"/>
            <a:ext cx="3840480" cy="3108960"/>
          </a:xfrm>
          <a:prstGeom prst="roundRect">
            <a:avLst>
              <a:gd name="adj" fmla="val 2353"/>
            </a:avLst>
          </a:prstGeom>
          <a:solidFill>
            <a:srgbClr val="F8FCFE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1691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知识库检索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29200" y="19659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ChromaDB 向量数据库存储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眼底医学知识文档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0" y="24414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多轮对话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0" y="271576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大模型 + 检索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上下文增强回答质量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0" y="31912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离线兜底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029200" y="346557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API Key 时自动切换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关键词搜索，功能不中断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0" y="394106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9E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文档扩充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029200" y="421538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 PDF/TXT/DOCX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一键重建知识库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19EBC"/>
          </a:solidFill>
          <a:ln/>
        </p:spPr>
      </p:sp>
      <p:sp>
        <p:nvSpPr>
          <p:cNvPr id="42" name="Text 4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科研工具链 — 选题 · 写作 · 学习分析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3474720"/>
          </a:xfrm>
          <a:prstGeom prst="roundRect">
            <a:avLst/>
          </a:prstGeom>
          <a:solidFill>
            <a:srgbClr val="F8FCFE"/>
          </a:solidFill>
          <a:ln/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1188720"/>
            <a:ext cx="1005840" cy="100584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188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科研选题生成器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1. 适配 4 个学术层次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1729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2. AI 推荐 1-5 个选题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5570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3. 自动生成研究方案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9410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4. 实验设计模板输出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3474720"/>
          </a:xfrm>
          <a:prstGeom prst="roundRect">
            <a:avLst/>
          </a:prstGeom>
          <a:solidFill>
            <a:srgbClr val="F8FCFE"/>
          </a:solidFill>
          <a:ln/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0" y="1188720"/>
            <a:ext cx="1005840" cy="1005840"/>
          </a:xfrm>
          <a:prstGeom prst="ellipse">
            <a:avLst/>
          </a:prstGeom>
          <a:solidFill>
            <a:srgbClr val="219EBC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0" y="1188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83280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论文写作辅助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27889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1. 9 种论文章节类型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31729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2. 中英双语支持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35570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3. 框架搭建 + 润色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39410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4. 参考文献 / 期刊推荐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1051560"/>
            <a:ext cx="2651760" cy="3474720"/>
          </a:xfrm>
          <a:prstGeom prst="roundRect">
            <a:avLst/>
          </a:prstGeom>
          <a:solidFill>
            <a:srgbClr val="F8FCFE"/>
          </a:solidFill>
          <a:ln/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0" y="1188720"/>
            <a:ext cx="1005840" cy="10058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1188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217920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学习分析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09360" y="27889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1. SQLite 行为记录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31729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2. 操作频次统计分析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35570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3. 学习时长趋势图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39410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4. 个人学习画像报告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19EBC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技术架构与数据处理管线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FFB70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011680" y="1097280"/>
            <a:ext cx="2743200" cy="548640"/>
          </a:xfrm>
          <a:prstGeom prst="roundRect">
            <a:avLst>
              <a:gd name="adj" fmla="val 8333"/>
            </a:avLst>
          </a:prstGeom>
          <a:solidFill>
            <a:srgbClr val="F0F8FC"/>
          </a:solidFill>
          <a:ln/>
        </p:spPr>
      </p:sp>
      <p:sp>
        <p:nvSpPr>
          <p:cNvPr id="7" name="Text 5"/>
          <p:cNvSpPr/>
          <p:nvPr/>
        </p:nvSpPr>
        <p:spPr>
          <a:xfrm>
            <a:off x="2103120" y="1097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Streamlit + pywebview + Custom CSS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219EB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28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011680" y="1828800"/>
            <a:ext cx="2743200" cy="548640"/>
          </a:xfrm>
          <a:prstGeom prst="roundRect">
            <a:avLst>
              <a:gd name="adj" fmla="val 8333"/>
            </a:avLst>
          </a:prstGeom>
          <a:solidFill>
            <a:srgbClr val="F0F8FC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个 Python 模块 (4080 行代码)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02304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5603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011680" y="2560320"/>
            <a:ext cx="2743200" cy="548640"/>
          </a:xfrm>
          <a:prstGeom prst="roundRect">
            <a:avLst>
              <a:gd name="adj" fmla="val 8333"/>
            </a:avLst>
          </a:prstGeom>
          <a:solidFill>
            <a:srgbClr val="F0F8FC"/>
          </a:solidFill>
          <a:ln/>
        </p:spPr>
      </p:sp>
      <p:sp>
        <p:nvSpPr>
          <p:cNvPr id="15" name="Text 13"/>
          <p:cNvSpPr/>
          <p:nvPr/>
        </p:nvSpPr>
        <p:spPr>
          <a:xfrm>
            <a:off x="2103120" y="25603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PyTorch U-Net + DeepSeek LLM + ChromaDB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E76F5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91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011680" y="3291840"/>
            <a:ext cx="2743200" cy="548640"/>
          </a:xfrm>
          <a:prstGeom prst="roundRect">
            <a:avLst>
              <a:gd name="adj" fmla="val 8333"/>
            </a:avLst>
          </a:prstGeom>
          <a:solidFill>
            <a:srgbClr val="F0F8FC"/>
          </a:solidFill>
          <a:ln/>
        </p:spPr>
      </p:sp>
      <p:sp>
        <p:nvSpPr>
          <p:cNvPr id="19" name="Text 17"/>
          <p:cNvSpPr/>
          <p:nvPr/>
        </p:nvSpPr>
        <p:spPr>
          <a:xfrm>
            <a:off x="2103120" y="3291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+ 知识库文件 + 眼底图像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1005840"/>
            <a:ext cx="3840480" cy="365760"/>
          </a:xfrm>
          <a:prstGeom prst="roundRect">
            <a:avLst/>
          </a:prstGeom>
          <a:solidFill>
            <a:srgbClr val="023047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血管分割算法管线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0640" y="1600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图像输入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灰度化 + 缩放到 512x512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60720" y="18928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20640" y="2148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CLAHE增强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局部对比度增强 + 反转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60720" y="24414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20640" y="2697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多尺度滤波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BlackHat(7/15/31) + Frangi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60720" y="2990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20640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自适应阈值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0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百分位阈值 + 形态学清理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60720" y="35387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20640" y="3794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骨架提取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0" y="3794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Lee 骨架化 + 拓扑分析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0F8FC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1148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280160" y="41148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103120" y="41148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926080" y="41148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scikit-image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749040" y="41148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0" y="41148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94960" y="41148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17920" y="41148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NetworkX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040880" y="41148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863840" y="41148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pywebview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19EBC"/>
          </a:solidFill>
          <a:ln/>
        </p:spPr>
      </p:sp>
      <p:sp>
        <p:nvSpPr>
          <p:cNvPr id="48" name="Text 4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应用成效与影响力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0A2E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功能模块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CA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覆盖图像分析到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CA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科研全流程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18872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0A2E4A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12344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4000+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97480" y="19659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行代码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97480" y="23317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CA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结构清晰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CA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可维护可扩展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0A2E4A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2344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846320" y="19659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学术层次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3317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CA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高职高专/本科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CA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硕士/博士全覆盖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118872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0A2E4A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12344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995160" y="19659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依赖包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95160" y="23317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CA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成熟技术栈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CA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开箱即用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0A2E4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项目价值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3749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教学创新：将抽象的理论知识转化为可视化交互体验，提升学习效果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04164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科研赋能：AI 辅助选题到论文全流程，降低科研启动门槛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433425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技术普惠：CPU 即可运行，无需 GPU，支持 Windows 桌面和浏览器双模式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1371600"/>
            <a:ext cx="3657600" cy="365760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657600" y="2560320"/>
            <a:ext cx="182880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28346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8ECA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FundusAI-Edu — 眼底图像AI教学与科研辅助平台</a:t>
            </a:r>
            <a:endParaRPr lang="en-US" sz="16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8ECA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让医学AI触手可及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389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75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2026年6月  |  FundusAI-Edu v1.0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FundusAI-Edu 项目展示</dc:title>
  <dc:subject>PptxGenJS Presentation</dc:subject>
  <dc:creator>FundusAI-Edu Team</dc:creator>
  <cp:lastModifiedBy>FundusAI-Edu Team</cp:lastModifiedBy>
  <cp:revision>1</cp:revision>
  <dcterms:created xsi:type="dcterms:W3CDTF">2026-06-07T13:48:34Z</dcterms:created>
  <dcterms:modified xsi:type="dcterms:W3CDTF">2026-06-07T13:48:34Z</dcterms:modified>
</cp:coreProperties>
</file>